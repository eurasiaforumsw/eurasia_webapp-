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87184" y="1481328"/>
            <a:ext cx="4443984" cy="38953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1988023"/>
            <a:ext cx="3529584" cy="28819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57276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ข้อเสนอโครงการเพื่อพิจารณาอนุมัติ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9968"/>
            <a:ext cx="6400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โครงการจัดทำเว็บไซต์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Eurasia Forum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for Social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78224"/>
            <a:ext cx="61264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ศูนย์กลางระดับสากลเพื่อการประชาสัมพันธ์ เผยแพร่ผลงานวิชาการ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และสร้างเครือข่ายนักสังคมสงเคราะห์ในภูมิภาคยูเรเซีย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138928"/>
            <a:ext cx="1371600" cy="25603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535838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รองรับ 3 ภาษา (อังกฤษ / เกาหลี / ไทย)  ·  ระบบสมาชิก 3 ระดับ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6B8"/>
                </a:solidFill>
                <a:latin typeface="Tahoma"/>
                <a:cs typeface="Tahoma"/>
                <a:ea typeface="Tahoma"/>
              </a:rPr>
              <a:t>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หัวข้อการนำเสนอ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91056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04672" y="1764792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1737360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ภาพรวมโครงการ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เป้าหมาย ตัวเลขสำคัญ และเหตุผลความจำเป็น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591056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92240" y="1764792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5744" y="1737360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ขอบเขตงานและระบบหลัก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สิ่งที่ทำในเฟส 1 ระบบหลัก 4 ส่วน และผังเว็บไซต์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78608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04672" y="2752344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24912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สถาปัตยกรรม 3 ภาษา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โครงสร้าง URL ภาษาเริ่มต้น และการเลือกฟอนต์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578608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92240" y="2752344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2724912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ระบบสมาชิกและความปลอดภัย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สมาชิก 3 ประเภท ขั้นตอนอนุมัติ และมาตรฐาน GDPR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04672" y="3739896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12464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แผนงาน งบประมาณ และทีมงาน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5 ระยะ 10 สัปดาห์ ประมาณการค่าใช้จ่าย 2 ทางเลือก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566160"/>
            <a:ext cx="5358384" cy="78638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92240" y="3739896"/>
            <a:ext cx="438912" cy="438912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3712464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ความเสี่ยง ตัวชี้วัด และการขออนุมัติ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สิ่งที่ขอให้คณะกรรมการตัดสินใจ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ภาพรวมโครงการ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ตัวเลขสำคัญที่กำหนดขอบเขตและงบประมาณของโครงการ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65376"/>
            <a:ext cx="2724912" cy="18105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2029967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7977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ภาษา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อังกฤษ · เกาหลี · ไทย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865376"/>
            <a:ext cx="2724912" cy="18105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85032" y="2029967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77977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ระดับสมาชิก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วิชาชีพ · นักศึกษา · องค์กร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865376"/>
            <a:ext cx="2724912" cy="18105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0" y="2029967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7977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ระยะดำเนินงาน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ประมาณ 10 สัปดาห์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872" y="1865376"/>
            <a:ext cx="2724912" cy="18105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82328" y="2029967"/>
            <a:ext cx="2286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277977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ระบบหลัก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เนื้อหา · คลังความรู้ · สมาชิก · ความปลอดภัย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11073384" cy="1700784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169663"/>
            <a:ext cx="10378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งบประมาณและผลลัพธ์ที่คาดหวัง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54203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ค่าใช้จ่ายเริ่มต้น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34,000 – 67,000 บาท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ขึ้นกับทางเลือกที่อนุมัติ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1" y="4590288"/>
            <a:ext cx="254203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ค่าใช้จ่ายรายปี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4,600 – 20,800 บาท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โดเมน โฮสติ้ง และลิขสิทธิ์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4590288"/>
            <a:ext cx="254203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สมาชิกปีแรก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500 ราย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จากอย่างน้อย 10 ประเทศ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4590288"/>
            <a:ext cx="254203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ระยะเวลาถึง Go-Live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10 สัปดาห์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หลังอนุมัติและได้ไฟล์โลโก้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เหตุผลความจำเป็นและพันธกิจ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วิสัยทัศน์: เป็นเครือข่ายระดับโลกที่ยกระดับมาตรฐานการปฏิบัติงานสังคมสงเคราะห์ และขับเคลื่อนการเปลี่ยนแปลงทางสังคมอย่างยั่งยืน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84448" cy="248716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77824" y="2103120"/>
            <a:ext cx="475488" cy="475488"/>
          </a:xfrm>
          <a:prstGeom prst="ellipse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9A51"/>
                </a:solidFill>
                <a:latin typeface="Tahoma"/>
                <a:cs typeface="Tahoma"/>
                <a:ea typeface="Tahoma"/>
              </a:rPr>
              <a:t>Connect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6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เชื่อมโยงเครือข่าย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28415"/>
            <a:ext cx="296265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สร้างชุมชนที่ปลอดภัยสำหรับนักสังคมสงเคราะห์ ผู้กำหนดนโยบาย และนักวิชาการข้ามประเทศ เพื่อแลกเปลี่ยนองค์ความรู้และแนวปฏิบัติที่ดี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847088"/>
            <a:ext cx="3584448" cy="248716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63440" y="2103120"/>
            <a:ext cx="475488" cy="475488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Empower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6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เสริมศักยภาพวิชาชีพ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28415"/>
            <a:ext cx="296265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ยกระดับขีดความสามารถและการยอมรับในวิชาชีพ ผ่านการอบรมเฉพาะทาง คลังทรัพยากร และโครงการความร่วมมือ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47088"/>
            <a:ext cx="3584448" cy="248716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49055" y="2103120"/>
            <a:ext cx="475488" cy="475488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2743200"/>
            <a:ext cx="29626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Advocate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6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ผลักดันความเป็นธรรม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3328415"/>
            <a:ext cx="296265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ขับเคลื่อนความยุติธรรมทางสังคม สิทธิมนุษยชน และสวัสดิภาพของกลุ่มเปราะบาง โดยขยายผลงานระดับพื้นที่สู่เวทีโลก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17136"/>
            <a:ext cx="11073384" cy="859536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10378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ทำไมต้องเป็นเว็บไซต์ 3 ภาษา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การเปลี่ยนแปลงทางสังคมไม่มีพรมแดน แพลตฟอร์ม 3 ภาษาช่วยลดอุปสรรคด้านการสื่อสาร ให้เครื่องมือ งานวิจัย และโอกาสสร้างเครือข่ายเข้าถึงได้จากทุกประเทศ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487168"/>
            <a:ext cx="658368" cy="658368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71B30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101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ขอบเขตงานและระบบหลัก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5993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Scope &amp; Core Features  —  สิ่งที่จะส่งมอบในเฟสแรก ระบบหลัก 4 ส่วน และผังเว็บไซต์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ขอบเขตงาน เฟส 1 และสิ่งที่ยกไปเฟสถัดไป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การแยกขอบเขตให้ชัดเจนช่วยควบคุมงบประมาณและทำให้เปิดใช้งานได้เร็ว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47088"/>
          <a:ext cx="11073384" cy="31638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626864"/>
                <a:gridCol w="411480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หัวข้อ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อยู่ในเฟส 1 (Go-Live)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ยกไปเฟสถัดไป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เนื้อหาและภาษา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ครบ 3 ภาษาในหน้าหลักทั้งหมด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ขยายภาษารัสเซีย / จีน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ระบบสมาชิก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สมัคร เข้าสู่ระบบ โปรไฟล์ อนุมัติโดย Admin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ระบบเก็บค่าบำรุงสมาชิกออนไลน์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คลังความรู้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อัปโหลด ดาวน์โหลด จัดหมวดหมู่ ค้นหา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ระบบสร้างการอ้างอิงอัตโนมัติ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กิจกรรม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ปฏิทินกิจกรรม และฟอร์มลงทะเบียนออนไลน์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ตั๋ว QR Code และเชื่อม Zoom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ชุมชนออนไลน์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ทำเนียบสมาชิกที่ค้นหาได้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เว็บบอร์ด และข้อความส่วนตัวระหว่างสมาชิก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ความปลอดภัย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SSL, WAF, สำรองข้อมูล, Cookie Consent (GDPR)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การตรวจสอบความปลอดภัยโดยผู้ประเมินภายนอก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ระบบหลัก 4 ส่วน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ทุกระบบเป็นข้อกำหนดที่ต้องระบุในเอกสาร TOR ก่อนส่งให้ผู้พัฒนาประเมินราคา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8366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2157984"/>
            <a:ext cx="457200" cy="457200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21408"/>
            <a:ext cx="41696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ระบบหลายภาษา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Multi-language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52928"/>
            <a:ext cx="4809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แยก URL ตามภาษา (/en/, /ko/, /th/) มีปุ่มสลับภาษาชัดเจน และตั้งค่า SEO แยกในแต่ละภาษา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8366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28816" y="2157984"/>
            <a:ext cx="457200" cy="457200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121408"/>
            <a:ext cx="41696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คลังความรู้และผลงาน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Resource &amp; Publications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852928"/>
            <a:ext cx="4809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จัดเก็บวารสาร งานวิจัย และคู่มือมาตรฐาน รองรับ PDF / Word ค้นหาและกรองตามหัวข้อ ภูมิภาค และปี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77056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1247" y="4151376"/>
            <a:ext cx="457200" cy="457200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14800"/>
            <a:ext cx="41696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ระบบสมาชิก 3 ระดับ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Secure Membership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46320"/>
            <a:ext cx="4809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สมัคร เข้าสู่ระบบ และโปรไฟล์สมาชิก โดยทุกใบสมัครต้องผ่าน การตรวจสอบและอนุมัติจาก Admin ก่อนใช้งาน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877056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28816" y="4151376"/>
            <a:ext cx="457200" cy="457200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114800"/>
            <a:ext cx="41696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ความเป็นส่วนตัวและความปลอดภัย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Privacy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4846320"/>
            <a:ext cx="4809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SSL (HTTPS), ระบบป้องกัน Spam / Malware, สำรองข้อมูลอัตโนมัติ และแบนเนอร์คุกกี้ตามมาตรฐาน GDPR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SITEMAP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ผังเมนูและหน้าเว็บหลัก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โครงสร้างเมนู 7 หมวด ออกแบบให้เข้าถึงทุกหน้าได้ภายใน 3 คลิก (3-Click Rule)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86384" y="2048256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029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หน้าแรก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96896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แบนเนอร์ภารกิจ 3 ประเด็น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ข่าวและประกาศล่าสุด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กิจกรรมที่กำลังจะมาถึง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47088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75304" y="2048256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029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เกี่ยวกับเรา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About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596896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ความเป็นมาและวัตถุประสงค์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คณะกรรมการสากล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วิสัยทัศน์ พันธกิจ ค่านิยม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ความร่วมมือระดับภูมิภาค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47088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64224" y="2048256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029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ภารกิจและผลงาน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Our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96896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โครงการพัฒนาศักยภาพ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โครงการช่วยกลุ่มเปราะบาง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รายงานประจำปี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7" y="1847088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153143" y="2048256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1" y="20299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คลังความรู้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2596896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วารสารสังคมสงเคราะห์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คู่มือมาตรฐานสากล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งานวิจัยและบทความ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86384" y="4315968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97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ข่าวสารและกิจกรรม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News &amp;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864608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ข่าวประชาสัมพันธ์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ปฏิทินกิจกรรมและสัมมนา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คลังภาพและวิดีโอ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4114800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575304" y="4315968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1" y="4297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เครือข่ายสมาชิก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Membership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864608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สิทธิประโยชน์และประเภทสมาชิก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สมัคร / เข้าสู่ระบบ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ทำเนียบสมาชิกที่รับรอง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114800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64224" y="4315968"/>
            <a:ext cx="384048" cy="384048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297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การระดมทุน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Support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864608"/>
            <a:ext cx="22128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โครงการรับบริจาค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การสนับสนุนทุนวิจัย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องค์กรภาคีเครือข่าย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33687" y="4114800"/>
            <a:ext cx="2651760" cy="2084831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53143" y="4315968"/>
            <a:ext cx="221284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ติดต่อเรา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Contact Us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แบบฟอร์มติดต่อสอบถาม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สำนักงานประสานงาน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ช่องทางโซเชียลมีเดีย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 </a:t>
            </a: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แผนที่ตั้งสำนักงาน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487168"/>
            <a:ext cx="658368" cy="658368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71B30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101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สถาปัตยกรรม 3 ภาษาและการออกแบบ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5993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Multi-Language Architecture &amp; Design  —  โครงสร้าง URL ภาษาเริ่มต้น และการเลือกฟอนต์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MULTI-LANGUAGE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โครงสร้างภาษาและการตรวจจับอัตโนมัติ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ระบบตรวจจับภาษาจาก IP / Browser และให้ผู้ใช้สลับได้ด้วยปุ่มที่มุมขวาบน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65376"/>
            <a:ext cx="5358384" cy="22677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66543"/>
            <a:ext cx="47000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โครงสร้าง URL แยกตามภาษา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มีโฟลเดอร์ย่อยชัดเจน ช่วยให้ Google และ Bing จัดทำดัชนีได้ถูกต้อง และทำให้ผู้ใช้เข้าใจว่าตนเองอยู่ในเวอร์ชันภาษาใด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ภาษาอังกฤษ — eurasiaforumsw.org/en/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1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ภาษาเกาหลี — eurasiaforumsw.org/ko/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1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› ภาษาไทย — eurasiaforumsw.org/th/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65376"/>
            <a:ext cx="5358384" cy="226771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01968" y="2066543"/>
            <a:ext cx="47000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ภาษาเริ่มต้นและการเลือกฟอนต์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ภาษาเริ่มต้น: ภาษาอังกฤษ (เพื่อการเข้าถึงสากล)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ฟอนต์หลัก: Tahoma (หรือ Calibri) รองรับภาษาไทย เกาหลี และตัวอักษรละติน ฟรี ในตัว Office ทำให้แสดงผลถูกต้องในทุกอุปกรณ์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ฟอนต์สำรอง: เบราว์เซอร์จะใช้ Noto Sans Thai, Malgun Gothic, หรือ Arial หากไม่พบฟอนต์หลัก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279392"/>
          <a:ext cx="11073384" cy="1664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2688336"/>
                <a:gridCol w="2688336"/>
                <a:gridCol w="2770632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หน้า / เนื้อหา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ภาษาอังกฤษ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ภาษาเกาหลี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ภาษาไทย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หน้าแรก และเมนูหลัก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ครบทั้งหมด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ครบทั้งหมด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ครบทั้งหมด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คลังความรู้ (ชื่อเอกสาร)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ครบทั้งหมด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แปลคำสำคัญ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แปลคำสำคัญ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ข่าวและบทความ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✓ ครบทั้งหมด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สรุปย่อภาษาเกาหลี + ลิงก์อังกฤษ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สรุปย่อภาษาไทย + ลิงก์อังกฤษ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487168"/>
            <a:ext cx="658368" cy="658368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71B30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101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ระบบสมาชิกและความปลอดภัย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5993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Membership &amp; Security  —  สมาชิก 3 ประเภท ขั้นตอนอนุมัติ และมาตรฐาน GDPR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สมาชิก 3 ประเภท พร้อมสิทธิประโยชน์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แต่ละประเภทมีฟอร์มเฉพาะและผ่านการตรวจสอบโดย Admin ก่อนเปิดใช้งาน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84448" cy="325526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2029967"/>
            <a:ext cx="457200" cy="457200"/>
          </a:xfrm>
          <a:prstGeom prst="ellipse">
            <a:avLst/>
          </a:prstGeom>
          <a:solidFill>
            <a:srgbClr val="4E9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011680"/>
            <a:ext cx="24871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สมาชิกวิชาชีพ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1" i="0">
                <a:solidFill>
                  <a:srgbClr val="4E9A51"/>
                </a:solidFill>
                <a:latin typeface="Tahoma"/>
                <a:cs typeface="Tahoma"/>
                <a:ea typeface="Tahoma"/>
              </a:rPr>
              <a:t>Professional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33472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เหมาะกับ: นักสังคมสงเคราะห์ นักวิจัย อาจารย์ผู้มีใบประกอบวิชาชีพ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00400"/>
            <a:ext cx="303580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สิทธิประโยชน์หลัก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เครือข่ายระดับโลก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คลังความรู้พิเศษ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ส่วนลดฟอรั่มและประชุมนานาชาติ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เผยแพร่ผลงานบนแพลตฟอร์ม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47088"/>
            <a:ext cx="3584448" cy="325526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26864" y="2029967"/>
            <a:ext cx="457200" cy="457200"/>
          </a:xfrm>
          <a:prstGeom prst="ellipse">
            <a:avLst/>
          </a:prstGeom>
          <a:solidFill>
            <a:srgbClr val="1C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011680"/>
            <a:ext cx="24871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สมาชิกนักศึกษา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Student 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633472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เหมาะกับ: นักศึกษาระดับปริญญาตรี / โท / เอก สาขาสังคมสงเคราะห์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200400"/>
            <a:ext cx="303580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สิทธิประโยชน์หลัก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พี่เลี้ยงจากผู้เชี่ยวชาญ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ห้องสมุดดิจิทัลสำหรับการศึกษา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ฝึกงานและอาสาสมัคร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อัตราพิเศษโครงการอบรม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847088"/>
            <a:ext cx="3584448" cy="3255264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12480" y="2029967"/>
            <a:ext cx="457200" cy="457200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7" y="2011680"/>
            <a:ext cx="24871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สมาชิกองค์กร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Institutional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33472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เหมาะกับ: มหาวิทยาลัย NGO หน่วยงานรัฐ องค์กรสังคม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03580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สิทธิประโยชน์หลัก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พันธมิตรโครงการร่วม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โปรไฟล์องค์กรบนเว็บไซต์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ประกาศข่าวและรับสมัครงาน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3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บัตรเข้างานฟอรั่มฟรี 3 ท่าน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ADMIN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ขั้นตอนการอนุมัติสมาชิกใหม่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กระบวนการตรวจสอบ 4 ขั้นตอน ใช้เวลาเฉลี่ย 2-3 วันทำการ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65376"/>
            <a:ext cx="11073384" cy="74980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59536" y="2011680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98938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สมัครสมาชิกออนไลน์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ผู้สมัครกรอกแบบฟอร์มพร้อมแนบหลักฐาน (ใบประกอบวิชาชีพ / บัตรนักศึกษา)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73384" cy="74980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59536" y="2889504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71216"/>
            <a:ext cx="98938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ระบบส่งอีเมลยืนยัน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อีเมล 'รับเรื่องแล้ว' ส่งอัตโนมัติ พร้อมเลขอ้างอิง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21024"/>
            <a:ext cx="11073384" cy="74980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59536" y="3767328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39"/>
            <a:ext cx="98938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Admin ตรวจสอบข้อมูล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ตรวจอีเมล ชื่อองค์กร และความถูกต้องของข้อมูล (ไม่ใช่ Spam/Bot)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98848"/>
            <a:ext cx="11073384" cy="74980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9536" y="4645152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26864"/>
            <a:ext cx="98938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อนุมัติและแจ้งผล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อีเมล 'อนุมัติแล้ว' พร้อม Username และลิงก์เข้าสู่ระบบ หรือปฏิเสธพร้อมเหตุผล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มาตรฐานความปลอดภัยและ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ปฏิบัติตามกฎหมายคุ้มครองข้อมูลส่วนบุคคลระหว่างประเทศ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2048256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SSL/TLS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การเข้ารหัสแบบ HTTPS ทั้งเว็บไซต์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ทุกข้อมูลที่ส่งระหว่างผู้ใช้และเซิร์ฟเวอร์ถูกเข้ารหัสป้องกันการดักฟัง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847088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26864" y="2048256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Cookie Consent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แบนเนอร์ขออนุญาตคุกกี้ (GDPR)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ผู้ใช้สามารถเลือก ยอมรับ / ปฏิเสธ คุกกี้ประเภท Analytics ได้ตามมาตรฐาน GDPR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847088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0" y="2048256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Privacy Policy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นโยบายความเป็นส่วนตัว 3 ภาษา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อธิบายว่าเราเก็บข้อมูลใด ใช้อย่างไร และผู้ใช้มีสิทธิลบ / แก้ไขข้อมูลได้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28416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3529584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Backup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สำรองข้อมูลอัตโนมัติทุกวัน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สำเนาข้อมูลถูกเก็บในสถานที่แยก พร้อม restore ได้ภายใน 24 ชม.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328416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26864" y="3529584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WAF + Firewall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ป้องกัน SQL Injection / XSS / DDoS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ใช้ Cloudflare หรือ Sucuri กรองทราฟฟิกก่อนเข้าเว็บไซต์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328416"/>
            <a:ext cx="3584448" cy="135331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0" y="3529584"/>
            <a:ext cx="303580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2FA for Admin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ยืนยันตัวตน 2 ชั้นสำหรับผู้ดูแลระบบ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ลด risk การถูก hack บัญชี 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2487168"/>
            <a:ext cx="658368" cy="658368"/>
          </a:xfrm>
          <a:prstGeom prst="ellipse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71B30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101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แผนงาน งบประมาณ และทีมงาน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5993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Project Plan &amp; Budget  —  5 ระยะ 10 สัปดาห์ และประมาณการค่าใช้จ่าย 2 ทางเลือก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แผนงาน 5 ระยะ (10 สัปดาห์)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แต่ละระยะส่งมอบสิ่งที่ตรวจสอบได้ (Milestone) และรับงวดเงิน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11073384" cy="62179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" y="1947672"/>
            <a:ext cx="420624" cy="42062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9293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เตรียมการและ Branding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สัปดาห์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196596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Logo CI โดเมน .org และ Cloud Hosting พร้อม staging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11073384" cy="62179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679192"/>
            <a:ext cx="420624" cy="42062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6609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พัฒนาและออกแบบ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สัปดาห์ 3-6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ติดตั้ง WordPress ปลั๊กอิน 3 ภาษา ระบบสมาชิกและการอนุมัติ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11073384" cy="62179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960" y="3410712"/>
            <a:ext cx="420624" cy="42062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924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เนื้อหาและแปล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สัปดาห์ 7-8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42900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เขียนเนื้อหาหลักครบ 3 ภาษา (About, Benefits, Privacy Policy)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41648"/>
            <a:ext cx="11073384" cy="621792"/>
          </a:xfrm>
          <a:prstGeom prst="roundRect">
            <a:avLst>
              <a:gd name="adj" fmla="val 6000"/>
            </a:avLst>
          </a:prstGeom>
          <a:solidFill>
            <a:srgbClr val="E6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2960" y="4142232"/>
            <a:ext cx="420624" cy="42062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1239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ตรวจสอบและ Launch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สัปดาห์ 9-10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416052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ทดสอบข้ามบราวเซอร์ ตรวจ SSL และเปิดเว็บไซต์อย่างเป็นทางการ (Go-Live)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3168"/>
            <a:ext cx="11073384" cy="62179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2960" y="4873752"/>
            <a:ext cx="420624" cy="42062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8554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บริหารหลัง Launch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ต่อเนื่อง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89204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Admin ตรวจสอบสมาชิกใหม่ทุกวัน และอัปเดตปลั๊กอิน / ความปลอดภัย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งบประมาณ 2 ทางเลือก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ทางเลือก A: ทำเอง (ประหยัดแต่ใช้เวลา)  ·  ทางเลือก B: จ้างบริษัท (เสร็จเร็วและมีรับประกัน)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47088"/>
          <a:ext cx="11073384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1920240"/>
                <a:gridCol w="1920240"/>
                <a:gridCol w="2194560"/>
                <a:gridCol w="2203704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รายการ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ทางเลือก A
(ทำเอง)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ทางเลือก B
(จ้างบริษัท)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หน่วย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ahoma"/>
                          <a:cs typeface="Tahoma"/>
                          <a:ea typeface="Tahoma"/>
                        </a:rPr>
                        <a:t>หมายเหตุ</a:t>
                      </a:r>
                    </a:p>
                  </a:txBody>
                  <a:tcPr marL="82296" marR="82296" marT="41148" marB="41148" anchor="ctr"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โดเมน .org (2 ปี)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1,000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1,000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ชำระทุก 2 ปี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Cloud Hosting (1 ปี)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4,600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10,800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A=shared, B=VPS premium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ธีม WordPress Premium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2,200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2,200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ครั้งเดียว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ปลั๊กอิน (Membership / Multilang)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14,400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A=ฟรี, B=เวอร์ชันโปร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แปลเนื้อหา (เกาหลี+ไทย)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43,200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A=ทีมแปลเอง, B=มืออาชีพ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พัฒนาเว็บไซต์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26,400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144,000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A=จ้างฟรีแลนซ์ 80 ชม. @330, B=บริษัท</a:t>
                      </a:r>
                    </a:p>
                  </a:txBody>
                  <a:tcPr marL="82296" marR="82296" marT="41148" marB="41148" anchor="ctr"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รวมค่าใช้จ่ายเริ่มต้น (ปีแรก)</a:t>
                      </a:r>
                    </a:p>
                  </a:txBody>
                  <a:tcPr marL="82296" marR="82296" marT="41148" marB="41148" anchor="ctr">
                    <a:solidFill>
                      <a:srgbClr val="E6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34,200</a:t>
                      </a:r>
                    </a:p>
                  </a:txBody>
                  <a:tcPr marL="82296" marR="82296" marT="41148" marB="41148" anchor="ctr">
                    <a:solidFill>
                      <a:srgbClr val="E6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215,600</a:t>
                      </a:r>
                    </a:p>
                  </a:txBody>
                  <a:tcPr marL="82296" marR="82296" marT="41148" marB="41148" anchor="ctr">
                    <a:solidFill>
                      <a:srgbClr val="E6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E6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/>
                      </a:r>
                    </a:p>
                  </a:txBody>
                  <a:tcPr marL="82296" marR="82296" marT="41148" marB="41148" anchor="ctr">
                    <a:solidFill>
                      <a:srgbClr val="E6F1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ค่าใช้จ่ายรายปี (ปี 2+)</a:t>
                      </a:r>
                    </a:p>
                  </a:txBody>
                  <a:tcPr marL="82296" marR="82296" marT="41148" marB="41148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4,600</a:t>
                      </a:r>
                    </a:p>
                  </a:txBody>
                  <a:tcPr marL="82296" marR="82296" marT="41148" marB="41148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20,800</a:t>
                      </a:r>
                    </a:p>
                  </a:txBody>
                  <a:tcPr marL="82296" marR="82296" marT="41148" marB="41148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บาท</a:t>
                      </a:r>
                    </a:p>
                  </a:txBody>
                  <a:tcPr marL="82296" marR="82296" marT="41148" marB="41148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F2A33"/>
                          </a:solidFill>
                          <a:latin typeface="Tahoma"/>
                          <a:cs typeface="Tahoma"/>
                          <a:ea typeface="Tahoma"/>
                        </a:rPr>
                        <a:t>โดเมน + โฮสติ้ง + ต่ออายุปลั๊กอิน</a:t>
                      </a:r>
                    </a:p>
                  </a:txBody>
                  <a:tcPr marL="82296" marR="82296" marT="41148" marB="41148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7A87"/>
                </a:solidFill>
                <a:latin typeface="Tahoma"/>
                <a:cs typeface="Tahoma"/>
                <a:ea typeface="Tahoma"/>
              </a:rPr>
              <a:t>RISK &amp;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ความเสี่ยง ตัวชี้วัดความสำเร็จ และขออนุมัติ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3707B"/>
                </a:solidFill>
                <a:latin typeface="Tahoma"/>
                <a:cs typeface="Tahoma"/>
                <a:ea typeface="Tahoma"/>
              </a:rPr>
              <a:t>สิ่งที่คณะกรรมการควรทราบก่อนตัดสินใจ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2048256"/>
            <a:ext cx="47365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ความเสี่ยงหลัก 3 ข้อ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▸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ล่าช้าจากการรอไฟล์โลโก้ หรือเนื้อหาที่แปล → แก้: ตั้งทีมรับผิดชอบชัดเจนและกำหนด deadline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▸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Spam / Bot สมัครสมาชิก → แก้: ใช้ reCAPTCHA และ Admin อนุมัติทุกราย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▸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งบประมาณเกิน → แก้: อนุมัติเฉพาะทางเลือก A ก่อน ขยายเมื่อมีสมาชิก &gt; 300 ราย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47088"/>
            <a:ext cx="5358384" cy="1700784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2048256"/>
            <a:ext cx="47365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A4A"/>
                </a:solidFill>
                <a:latin typeface="Tahoma"/>
                <a:cs typeface="Tahoma"/>
                <a:ea typeface="Tahoma"/>
              </a:rPr>
              <a:t>ตัวชี้วัดความสำเร็จ (KPI) 6 เดือนแรก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สมาชิกลงทะเบียน ≥ 500 ราย (จาก ≥ 10 ประเทศ)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ดาวน์โหลดทรัพยากร ≥ 1,000 ครั้ง</a:t>
            </a:r>
          </a:p>
          <a:p>
            <a:pPr algn="l">
              <a:lnSpc>
                <a:spcPct val="132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✓  </a:t>
            </a:r>
            <a:r>
              <a:rPr sz="1000" b="0" i="0">
                <a:solidFill>
                  <a:srgbClr val="1F2A33"/>
                </a:solidFill>
                <a:latin typeface="Tahoma"/>
                <a:cs typeface="Tahoma"/>
                <a:ea typeface="Tahoma"/>
              </a:rPr>
              <a:t>เข้าร่วมกิจกรรมออนไลน์ ≥ 200 คน (ฟอรั่มแรก)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30752"/>
            <a:ext cx="11073384" cy="1408176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3950208"/>
            <a:ext cx="1033272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ขออนุมัติจากคณะกรรมการ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□  </a:t>
            </a: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1. อนุมัติโครงการพัฒนาเว็บไซต์ EFSW ตามขอบเขตที่เสนอ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□  </a:t>
            </a: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2. อนุมัติงบประมาณ: ☐ ทางเลือก A (34,200 บาท)  ☐ ทางเลือก B (215,600 บาท)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□  </a:t>
            </a:r>
            <a:r>
              <a:rPr sz="115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3. มอบหมายให้เริ่มดำเนินการ และตั้งคณะทำงาน (coordinator, translator, content writer)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40864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ขอบคุณที่รับฟัง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999232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พร้อมตอบข้อซักถามและปรับแผนตามข้อเสนอแนะของคณะกรรมการ</a:t>
            </a:r>
          </a:p>
          <a:p>
            <a:pPr algn="l">
              <a:lnSpc>
                <a:spcPct val="138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B8C9D6"/>
                </a:solidFill>
                <a:latin typeface="Tahoma"/>
                <a:cs typeface="Tahoma"/>
                <a:ea typeface="Tahoma"/>
              </a:rPr>
              <a:t>หากต้องการข้อมูลเพิ่มเติม กรุณาติดต่อทีมพัฒนาโครงการ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425696"/>
            <a:ext cx="2194560" cy="25603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4700016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9A3A"/>
                </a:solidFill>
                <a:latin typeface="Tahoma"/>
                <a:cs typeface="Tahoma"/>
                <a:ea typeface="Tahoma"/>
              </a:rPr>
              <a:t>ทีมพัฒนาโครงการ EFSW</a:t>
            </a:r>
          </a:p>
          <a:p>
            <a:pPr algn="l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อีเมล: dev@eurasiaforumsw.org  ·  สัมภาษณ์ออนไลน์: Teams / Zoom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8FA6B8"/>
                </a:solidFill>
                <a:latin typeface="Tahoma"/>
                <a:cs typeface="Tahoma"/>
                <a:ea typeface="Tahoma"/>
              </a:rPr>
              <a:t>เอกสารฉบับเต็ม: EFSW_Website_Pro.md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